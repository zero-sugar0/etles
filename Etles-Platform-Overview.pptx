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921240" y="2926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 /  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55680" cy="0"/>
          </a:xfrm>
          <a:prstGeom prst="line">
            <a:avLst/>
          </a:prstGeom>
          <a:noFill/>
          <a:ln w="12700">
            <a:solidFill>
              <a:srgbClr val="3850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operations, with memory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26680" y="-365760"/>
            <a:ext cx="4846320" cy="4846320"/>
          </a:xfrm>
          <a:prstGeom prst="arc">
            <a:avLst/>
          </a:prstGeom>
          <a:solidFill>
            <a:srgbClr val="17202A">
              <a:alpha val="0"/>
            </a:srgbClr>
          </a:solidFill>
          <a:ln w="12700">
            <a:solidFill>
              <a:srgbClr val="0F766E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1737360"/>
            <a:ext cx="3840480" cy="3840480"/>
          </a:xfrm>
          <a:prstGeom prst="arc">
            <a:avLst/>
          </a:prstGeom>
          <a:solidFill>
            <a:srgbClr val="17202A">
              <a:alpha val="0"/>
            </a:srgbClr>
          </a:solidFill>
          <a:ln w="12700">
            <a:solidFill>
              <a:srgbClr val="E76F51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46920" y="2606040"/>
            <a:ext cx="1097280" cy="1097280"/>
          </a:xfrm>
          <a:prstGeom prst="ellipse">
            <a:avLst/>
          </a:prstGeom>
          <a:solidFill>
            <a:srgbClr val="F2C14E">
              <a:alpha val="88000"/>
            </a:srgbClr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09728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1750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BUILD  /  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Etles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13232" y="26974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CE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autonomous AI operator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9808" y="37033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8C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persistent agent that remembers context, uses real tools, creates working artifacts, and coordinates execution across channels.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" y="5074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action, not just answers.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921240" y="2926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 /  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5568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operations, with memory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chat window to operating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connects conversation, durable execution, memory, and artifacts in one working loop.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624328"/>
            <a:ext cx="219456" cy="219456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606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Conversation, goals, calendar, email, memory, and the user’s operating context.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24231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1608" y="2624328"/>
            <a:ext cx="219456" cy="219456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606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models, planning, knowledge graph, sub-agents, and approval policies.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24231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0528" y="2624328"/>
            <a:ext cx="219456" cy="21945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606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Composio, cloud tools, browser sessions, sandbox execution, and durable workflows.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280" y="24231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9448" y="2624328"/>
            <a:ext cx="219456" cy="21945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260604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3063240"/>
            <a:ext cx="1874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text, code, dashboards, planners, reports, PDFs, images, and decks.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27832" y="3063240"/>
            <a:ext cx="292608" cy="411480"/>
          </a:xfrm>
          <a:prstGeom prst="chevron">
            <a:avLst/>
          </a:prstGeom>
          <a:solidFill>
            <a:srgbClr val="D8DEE7"/>
          </a:solidFill>
          <a:ln w="12700">
            <a:solidFill>
              <a:srgbClr val="D8DEE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6752" y="3063240"/>
            <a:ext cx="292608" cy="411480"/>
          </a:xfrm>
          <a:prstGeom prst="chevron">
            <a:avLst/>
          </a:prstGeom>
          <a:solidFill>
            <a:srgbClr val="D8DEE7"/>
          </a:solidFill>
          <a:ln w="12700">
            <a:solidFill>
              <a:srgbClr val="D8DEE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05672" y="3063240"/>
            <a:ext cx="292608" cy="411480"/>
          </a:xfrm>
          <a:prstGeom prst="chevron">
            <a:avLst/>
          </a:prstGeom>
          <a:solidFill>
            <a:srgbClr val="D8DEE7"/>
          </a:solidFill>
          <a:ln w="12700">
            <a:solidFill>
              <a:srgbClr val="D8DEE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differentiator is continuity: the next action begins with the context the last action created.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STUDIO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921240" y="2926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 /  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5568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operations, with memory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comes back as something you can use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output is persisted, editable, and designed for the medium it belongs 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532888"/>
            <a:ext cx="219456" cy="21945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51460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28803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Markdown, tables, lists, emphasis, and versioned editing.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2331720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2532888"/>
            <a:ext cx="219456" cy="219456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51460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28803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 code, previews, diagnostics, and persistent sandbox workflows.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2331720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2532888"/>
            <a:ext cx="219456" cy="219456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51460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2971800"/>
            <a:ext cx="28803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cards, filters, charts, insights, and detail tables.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4178808"/>
            <a:ext cx="219456" cy="21945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1605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617720"/>
            <a:ext cx="28803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Events, priorities, deadlines, buffers, and interactive updates.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3977640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4178808"/>
            <a:ext cx="219456" cy="21945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1605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4617720"/>
            <a:ext cx="28803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 slides, images, cards, charts, notes, and PPTX export.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977640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4178808"/>
            <a:ext cx="219456" cy="21945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41605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Report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58200" y="4617720"/>
            <a:ext cx="28803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Pages, typography, themes, tables, charts, and print-ready export.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806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agent. Multiple working surfaces.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STUDIO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921240" y="2926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 /  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55680" cy="0"/>
          </a:xfrm>
          <a:prstGeom prst="line">
            <a:avLst/>
          </a:prstGeom>
          <a:noFill/>
          <a:ln w="12700">
            <a:solidFill>
              <a:srgbClr val="3850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operations, with memory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deck, not a text dump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presentation renderer now understands composition: hero, split, card-grid, chart-led, comparison, timeline, and closing layouts.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60350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432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Slides carry the argument.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1097280" y="3977640"/>
            <a:ext cx="2560320" cy="1005840"/>
          </a:xfrm>
          <a:prstGeom prst="roundRect">
            <a:avLst>
              <a:gd name="adj" fmla="val 4545"/>
            </a:avLst>
          </a:prstGeom>
          <a:solidFill>
            <a:srgbClr val="E9E1F8"/>
          </a:solidFill>
          <a:ln w="12700">
            <a:solidFill>
              <a:srgbClr val="E9E1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42245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dominant idea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86200" y="3977640"/>
            <a:ext cx="2560320" cy="1005840"/>
          </a:xfrm>
          <a:prstGeom prst="roundRect">
            <a:avLst>
              <a:gd name="adj" fmla="val 4545"/>
            </a:avLst>
          </a:prstGeom>
          <a:solidFill>
            <a:srgbClr val="DDF4EF"/>
          </a:solidFill>
          <a:ln w="12700">
            <a:solidFill>
              <a:srgbClr val="DDF4E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42245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evidence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24231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6368" y="2624328"/>
            <a:ext cx="219456" cy="21945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6060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imagery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43800" y="3063240"/>
            <a:ext cx="3520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generateImage first, then place the exact persistent URL into the slide. Use full for background composition.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38862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6368" y="4087368"/>
            <a:ext cx="219456" cy="21945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406908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surfaces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and tables stay native, theme-aware, readable, and exportable to PowerPoint.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921240" y="2926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 /  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5568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operations, with memory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gives the operator continuity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combines short-term conversation, durable memories, structured knowledge, and explicit goals.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1874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083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1874520"/>
            <a:ext cx="1874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396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71800" y="3657600"/>
            <a:ext cx="1874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9227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874520"/>
            <a:ext cx="1874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1396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+ plans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3657600"/>
            <a:ext cx="1874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39227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743200"/>
            <a:ext cx="1874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0083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3108960"/>
            <a:ext cx="228600" cy="-86868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46320" y="2240280"/>
            <a:ext cx="640080" cy="82296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46320" y="4023360"/>
            <a:ext cx="640080" cy="-96012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52360" y="3108960"/>
            <a:ext cx="68580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05840" y="562356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965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does not start from zero every time. It can recall what mattered, when it mattered, and what should happen next.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EXECUTION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921240" y="2926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 /  06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55680" cy="0"/>
          </a:xfrm>
          <a:prstGeom prst="line">
            <a:avLst/>
          </a:prstGeom>
          <a:noFill/>
          <a:ln w="12700">
            <a:solidFill>
              <a:srgbClr val="3850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operations, with memory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can leave the chat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Composio, browser sessions, cloud tools, sandboxes, and messaging adapters make the work operational.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2423160" cy="658368"/>
          </a:xfrm>
          <a:prstGeom prst="roundRect">
            <a:avLst>
              <a:gd name="adj" fmla="val 8333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670048"/>
            <a:ext cx="237744" cy="2377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26974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chat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2468880"/>
            <a:ext cx="2423160" cy="658368"/>
          </a:xfrm>
          <a:prstGeom prst="roundRect">
            <a:avLst>
              <a:gd name="adj" fmla="val 8333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6472" y="2670048"/>
            <a:ext cx="237744" cy="23774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26974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468880"/>
            <a:ext cx="2423160" cy="658368"/>
          </a:xfrm>
          <a:prstGeom prst="roundRect">
            <a:avLst>
              <a:gd name="adj" fmla="val 8333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5392" y="2670048"/>
            <a:ext cx="237744" cy="23774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26974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2468880"/>
            <a:ext cx="2423160" cy="658368"/>
          </a:xfrm>
          <a:prstGeom prst="roundRect">
            <a:avLst>
              <a:gd name="adj" fmla="val 8333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54312" y="2670048"/>
            <a:ext cx="237744" cy="23774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0072" y="26974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2423160" cy="658368"/>
          </a:xfrm>
          <a:prstGeom prst="roundRect">
            <a:avLst>
              <a:gd name="adj" fmla="val 8333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" y="3721608"/>
            <a:ext cx="237744" cy="2377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3312" y="37490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3520440"/>
            <a:ext cx="2423160" cy="658368"/>
          </a:xfrm>
          <a:prstGeom prst="roundRect">
            <a:avLst>
              <a:gd name="adj" fmla="val 8333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76472" y="3721608"/>
            <a:ext cx="237744" cy="23774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42232" y="37490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Chat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520440"/>
            <a:ext cx="2423160" cy="658368"/>
          </a:xfrm>
          <a:prstGeom prst="roundRect">
            <a:avLst>
              <a:gd name="adj" fmla="val 8333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721608"/>
            <a:ext cx="237744" cy="23774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37490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89720" y="3520440"/>
            <a:ext cx="2423160" cy="658368"/>
          </a:xfrm>
          <a:prstGeom prst="roundRect">
            <a:avLst>
              <a:gd name="adj" fmla="val 8333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54312" y="3721608"/>
            <a:ext cx="237744" cy="23774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0072" y="37490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iMessage / SMS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5257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handling is designed around encrypted profile secrets, environment-first resolution, and user-aware execution context.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OPERATIONS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921240" y="2926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 /  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5568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operations, with memory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keeps moving after the tab closes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QStash, approvals, retries, and dispatch state turn agent intent into durable operations.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346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816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and task created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3090672"/>
            <a:ext cx="256032" cy="365760"/>
          </a:xfrm>
          <a:prstGeom prst="chevron">
            <a:avLst/>
          </a:prstGeom>
          <a:solidFill>
            <a:srgbClr val="D8DEE7"/>
          </a:solidFill>
          <a:ln w="12700">
            <a:solidFill>
              <a:srgbClr val="D8DEE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6060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8346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2816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when needed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07608" y="3090672"/>
            <a:ext cx="256032" cy="365760"/>
          </a:xfrm>
          <a:prstGeom prst="chevron">
            <a:avLst/>
          </a:prstGeom>
          <a:solidFill>
            <a:srgbClr val="D8DEE7"/>
          </a:solidFill>
          <a:ln w="12700">
            <a:solidFill>
              <a:srgbClr val="D8DEE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6060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8346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2816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Provider-specific action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96528" y="3090672"/>
            <a:ext cx="256032" cy="365760"/>
          </a:xfrm>
          <a:prstGeom prst="chevron">
            <a:avLst/>
          </a:prstGeom>
          <a:solidFill>
            <a:srgbClr val="D8DEE7"/>
          </a:solidFill>
          <a:ln w="12700">
            <a:solidFill>
              <a:srgbClr val="D8DEE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6060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28346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38360" y="2816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receipts, retry state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4892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approval now has a durable dispatcher with scheduled delivery, idempotency, retries, failure state, and provider execution paths.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AND TENANCY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921240" y="2926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 /  08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55680" cy="0"/>
          </a:xfrm>
          <a:prstGeom prst="line">
            <a:avLst/>
          </a:prstGeom>
          <a:noFill/>
          <a:ln w="12700">
            <a:solidFill>
              <a:srgbClr val="3850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operations, with memory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personal operator to team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Workspaces, memberships, selected context, encrypted secrets, and ownership checks establish the team boundary.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578608"/>
            <a:ext cx="219456" cy="21945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5603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boundary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27889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 and memberships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admin / member / viewer roles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workspace context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23774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2578608"/>
            <a:ext cx="219456" cy="21945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5603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execution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3017520"/>
            <a:ext cx="27889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User-aware credential resolution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Environment-first BYOK fallback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ownership checks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23774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223340"/>
          </a:solidFill>
          <a:ln w="12700">
            <a:solidFill>
              <a:srgbClr val="3850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2578608"/>
            <a:ext cx="219456" cy="21945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5603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controls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3017520"/>
            <a:ext cx="27889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QStash signatures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task transitions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1206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team-tenancy layer is implemented and tested; broader workspace ownership for every resource is the next expansion surface.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HORIZON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921240" y="2926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 /  09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5568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operations, with memory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layer is scale, not a blank slate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9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Etles already has the operating loop. The next work expands team governance and broadens workspace ownership.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496312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2807208"/>
            <a:ext cx="0" cy="68580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423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423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artifacts, tools, memory, workflows, workspace core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502152"/>
            <a:ext cx="310896" cy="310896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" y="3813048"/>
            <a:ext cx="0" cy="68580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429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3429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Workspace-scoped integrations, invitations, audit log, granular policies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507992"/>
            <a:ext cx="310896" cy="31089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4434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Quotas, shared knowledge, department agents, richer cross-channel continuity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5486400"/>
            <a:ext cx="10378440" cy="566928"/>
          </a:xfrm>
          <a:prstGeom prst="roundRect">
            <a:avLst>
              <a:gd name="adj" fmla="val 9677"/>
            </a:avLst>
          </a:prstGeom>
          <a:solidFill>
            <a:srgbClr val="17202A"/>
          </a:solidFill>
          <a:ln w="12700">
            <a:solidFill>
              <a:srgbClr val="17202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66928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Etles is being built as a system that can remember, decide, act, and leave useful work behind.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Etles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Etles — The Autonomous AI Operator</dc:title>
  <dc:subject>Etles platform overview</dc:subject>
  <dc:creator>Etles</dc:creator>
  <cp:lastModifiedBy>Etles</cp:lastModifiedBy>
  <cp:revision>1</cp:revision>
  <dcterms:created xsi:type="dcterms:W3CDTF">2026-08-17T19:44:45Z</dcterms:created>
  <dcterms:modified xsi:type="dcterms:W3CDTF">2026-08-17T19:44:45Z</dcterms:modified>
</cp:coreProperties>
</file>